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214" autoAdjust="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F5B5F904-3F1F-4281-A9E1-C2FB746B8BF7}" type="datetime1">
              <a:rPr lang="en-US" smtClean="0"/>
              <a:t>8/29/2026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081D6EA9-74F4-419E-9686-C1380811218E}" type="datetime1">
              <a:rPr lang="en-US" smtClean="0"/>
              <a:t>8/29/2026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F876D309-B4D5-4527-B36F-A10579509D53}" type="datetime1">
              <a:rPr lang="en-US" smtClean="0"/>
              <a:t>8/29/2026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9935E381-5B31-4AF8-B2D5-825A2871D21A}" type="datetime1">
              <a:rPr lang="en-US" smtClean="0"/>
              <a:t>8/29/2026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B058F223-DE04-43B3-A1CA-82C024222846}" type="datetime1">
              <a:rPr lang="en-US" smtClean="0"/>
              <a:t>8/29/2026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CNAD Project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49DC939F-6452-40B3-8B30-A5C8AB6A0DFC}" type="datetime1">
              <a:rPr lang="en-US" smtClean="0"/>
              <a:t>8/29/2026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CNAD Project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5D43805D-913B-4F6D-902C-E5136FBF0E0C}" type="datetime1">
              <a:rPr lang="en-US" smtClean="0"/>
              <a:t>8/29/2026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CNAD Project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3BF5B214-4124-49D8-A24E-DBA27A6445C3}" type="datetime1">
              <a:rPr lang="en-US" smtClean="0"/>
              <a:t>8/29/2026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D956CC-F7C8-47FB-89A1-FBAE32B2A8EB}" type="datetime1">
              <a:rPr lang="en-US" smtClean="0"/>
              <a:t>8/29/2026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6FF10B40-B78B-4C4B-BDCF-3CB98651AC41}" type="datetime1">
              <a:rPr lang="en-US" smtClean="0"/>
              <a:t>8/29/2026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4B7C7294-1103-4E07-87C3-AC60860F3AE3}" type="datetime1">
              <a:rPr lang="en-US" smtClean="0"/>
              <a:t>8/29/2026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91251-3688-4348-9E3A-30E567D55C4D}" type="datetime1">
              <a:rPr lang="en-US" smtClean="0"/>
              <a:t>8/29/2026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9DBFDF-CDE2-40CB-8FA4-3CBB1CF54A9D}" type="datetime1">
              <a:rPr lang="en-US" smtClean="0"/>
              <a:t>8/29/2026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877594-F345-470B-9851-AAB51F8A07D1}" type="datetime1">
              <a:rPr lang="en-US" smtClean="0"/>
              <a:t>8/29/2026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114D82-1E80-4D9B-9F48-1603FF32D29B}" type="datetime1">
              <a:rPr lang="en-US" smtClean="0"/>
              <a:t>8/29/2026</a:t>
            </a:fld>
            <a:endParaRPr lang="en-IN"/>
          </a:p>
        </p:txBody>
      </p:sp>
      <p:sp>
        <p:nvSpPr>
          <p:cNvPr id="6" name="Footer Placeholder 5"/>
          <p:cNvSpPr>
            <a:spLocks noGrp="1"/>
          </p:cNvSpPr>
          <p:nvPr>
            <p:ph type="ftr" sz="quarter" idx="11"/>
          </p:nvPr>
        </p:nvSpPr>
        <p:spPr/>
        <p:txBody>
          <a:bodyPr/>
          <a:lstStyle/>
          <a:p>
            <a:r>
              <a:rPr lang="en-IN"/>
              <a:t>CNAD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F91D6D-4517-4318-8E63-BA647FC73676}" type="datetime1">
              <a:rPr lang="en-US" smtClean="0"/>
              <a:t>8/29/2026</a:t>
            </a:fld>
            <a:endParaRPr lang="en-IN"/>
          </a:p>
        </p:txBody>
      </p:sp>
      <p:sp>
        <p:nvSpPr>
          <p:cNvPr id="8" name="Footer Placeholder 7"/>
          <p:cNvSpPr>
            <a:spLocks noGrp="1"/>
          </p:cNvSpPr>
          <p:nvPr>
            <p:ph type="ftr" sz="quarter" idx="11"/>
          </p:nvPr>
        </p:nvSpPr>
        <p:spPr/>
        <p:txBody>
          <a:bodyPr/>
          <a:lstStyle/>
          <a:p>
            <a:r>
              <a:rPr lang="en-IN"/>
              <a:t>CNAD Project Review-1</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48BE11-45C9-4A33-91D6-F834346F8230}" type="datetime1">
              <a:rPr lang="en-US" smtClean="0"/>
              <a:t>8/29/2026</a:t>
            </a:fld>
            <a:endParaRPr lang="en-IN"/>
          </a:p>
        </p:txBody>
      </p:sp>
      <p:sp>
        <p:nvSpPr>
          <p:cNvPr id="4" name="Footer Placeholder 3"/>
          <p:cNvSpPr>
            <a:spLocks noGrp="1"/>
          </p:cNvSpPr>
          <p:nvPr>
            <p:ph type="ftr" sz="quarter" idx="11"/>
          </p:nvPr>
        </p:nvSpPr>
        <p:spPr/>
        <p:txBody>
          <a:bodyPr/>
          <a:lstStyle/>
          <a:p>
            <a:r>
              <a:rPr lang="en-IN"/>
              <a:t>CNAD Project Review-1</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3F475-35D2-4DB4-B393-F0CB7E443F34}" type="datetime1">
              <a:rPr lang="en-US" smtClean="0"/>
              <a:t>8/29/2026</a:t>
            </a:fld>
            <a:endParaRPr lang="en-IN"/>
          </a:p>
        </p:txBody>
      </p:sp>
      <p:sp>
        <p:nvSpPr>
          <p:cNvPr id="3" name="Footer Placeholder 2"/>
          <p:cNvSpPr>
            <a:spLocks noGrp="1"/>
          </p:cNvSpPr>
          <p:nvPr>
            <p:ph type="ftr" sz="quarter" idx="11"/>
          </p:nvPr>
        </p:nvSpPr>
        <p:spPr/>
        <p:txBody>
          <a:bodyPr/>
          <a:lstStyle/>
          <a:p>
            <a:r>
              <a:rPr lang="en-IN"/>
              <a:t>CNAD Project Review-1</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1F7173-3C06-4909-B7DB-53FA6C1C449E}" type="datetime1">
              <a:rPr lang="en-US" smtClean="0"/>
              <a:t>8/29/2026</a:t>
            </a:fld>
            <a:endParaRPr lang="en-IN"/>
          </a:p>
        </p:txBody>
      </p:sp>
      <p:sp>
        <p:nvSpPr>
          <p:cNvPr id="6" name="Footer Placeholder 5"/>
          <p:cNvSpPr>
            <a:spLocks noGrp="1"/>
          </p:cNvSpPr>
          <p:nvPr>
            <p:ph type="ftr" sz="quarter" idx="11"/>
          </p:nvPr>
        </p:nvSpPr>
        <p:spPr/>
        <p:txBody>
          <a:bodyPr/>
          <a:lstStyle/>
          <a:p>
            <a:r>
              <a:rPr lang="en-IN"/>
              <a:t>CNAD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6B61D-E795-4B3F-91F2-8D80F4704BCD}" type="datetime1">
              <a:rPr lang="en-US" smtClean="0"/>
              <a:t>8/29/2026</a:t>
            </a:fld>
            <a:endParaRPr lang="en-IN"/>
          </a:p>
        </p:txBody>
      </p:sp>
      <p:sp>
        <p:nvSpPr>
          <p:cNvPr id="6" name="Footer Placeholder 5"/>
          <p:cNvSpPr>
            <a:spLocks noGrp="1"/>
          </p:cNvSpPr>
          <p:nvPr>
            <p:ph type="ftr" sz="quarter" idx="11"/>
          </p:nvPr>
        </p:nvSpPr>
        <p:spPr/>
        <p:txBody>
          <a:bodyPr/>
          <a:lstStyle/>
          <a:p>
            <a:r>
              <a:rPr lang="en-IN"/>
              <a:t>CNAD Project Review-1</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5192F9-85A8-474E-9101-6E509395F1D7}" type="datetime1">
              <a:rPr lang="en-US" smtClean="0"/>
              <a:t>8/29/2026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AA09B4-E520-4CE3-B3CD-968466114F87}" type="datetime1">
              <a:rPr lang="en-US" smtClean="0"/>
              <a:t>8/29/2026</a:t>
            </a:fld>
            <a:endParaRPr lang="en-IN"/>
          </a:p>
        </p:txBody>
      </p:sp>
      <p:sp>
        <p:nvSpPr>
          <p:cNvPr id="5" name="Footer Placeholder 4"/>
          <p:cNvSpPr>
            <a:spLocks noGrp="1"/>
          </p:cNvSpPr>
          <p:nvPr>
            <p:ph type="ftr" sz="quarter" idx="11"/>
          </p:nvPr>
        </p:nvSpPr>
        <p:spPr/>
        <p:txBody>
          <a:bodyPr/>
          <a:lstStyle/>
          <a:p>
            <a:r>
              <a:rPr lang="en-IN"/>
              <a:t>CNAD Project Review-1</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1BE44B-A080-444E-B2F8-66835D348D22}" type="datetime1">
              <a:rPr lang="en-US" smtClean="0"/>
              <a:t>8/29/2026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CNAD Project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AF9358-0389-4EC9-8C09-403CD6E20950}" type="datetime1">
              <a:rPr lang="en-US" smtClean="0"/>
              <a:t>8/29/2026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CNAD Project Review-1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741088" y="2821152"/>
            <a:ext cx="6200774" cy="400110"/>
          </a:xfrm>
          <a:prstGeom prst="rect">
            <a:avLst/>
          </a:prstGeom>
          <a:noFill/>
          <a:effectLst>
            <a:glow rad="139700">
              <a:schemeClr val="accent2">
                <a:satMod val="175000"/>
                <a:alpha val="40000"/>
              </a:schemeClr>
            </a:glow>
          </a:effectLst>
        </p:spPr>
        <p:txBody>
          <a:bodyPr wrap="square">
            <a:spAutoFit/>
          </a:bodyPr>
          <a:lstStyle/>
          <a:p>
            <a:pPr algn="ctr"/>
            <a:r>
              <a:rPr lang="en-IN" sz="600" dirty="0">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Date:   29/08/2026  </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754246142"/>
              </p:ext>
            </p:extLst>
          </p:nvPr>
        </p:nvGraphicFramePr>
        <p:xfrm>
          <a:off x="8193271" y="4898509"/>
          <a:ext cx="3702050" cy="12801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12421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latin typeface="Times New Roman" panose="02020603050405020304" pitchFamily="18" charset="0"/>
                          <a:ea typeface="Cambria"/>
                          <a:cs typeface="Times New Roman" panose="02020603050405020304" pitchFamily="18" charset="0"/>
                        </a:rPr>
                        <a:t>R. L. S. Giridhar - 2420030171</a:t>
                      </a:r>
                      <a:endParaRPr lang="en-IN" sz="1400" b="0"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latin typeface="Times New Roman" panose="02020603050405020304" pitchFamily="18" charset="0"/>
                          <a:ea typeface="Cambria"/>
                          <a:cs typeface="Times New Roman" panose="02020603050405020304" pitchFamily="18" charset="0"/>
                        </a:rPr>
                        <a:t>V. Mani Maha Lakshmi - 2420030774</a:t>
                      </a:r>
                      <a:endParaRPr lang="en-IN" sz="1400" b="0"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latin typeface="Times New Roman" panose="02020603050405020304" pitchFamily="18" charset="0"/>
                          <a:ea typeface="Cambria"/>
                          <a:cs typeface="Times New Roman" panose="02020603050405020304" pitchFamily="18" charset="0"/>
                        </a:rPr>
                        <a:t>B. Keerthi Reddy - 2420030774</a:t>
                      </a:r>
                      <a:endParaRPr lang="en-IN" sz="1600" b="1" kern="1200" dirty="0">
                        <a:solidFill>
                          <a:schemeClr val="dk1"/>
                        </a:solidFill>
                        <a:latin typeface="Times New Roman" panose="02020603050405020304" pitchFamily="18" charset="0"/>
                        <a:ea typeface="Cambria"/>
                        <a:cs typeface="Times New Roman" panose="02020603050405020304" pitchFamily="18" charset="0"/>
                      </a:endParaRPr>
                    </a:p>
                    <a:p>
                      <a:pPr marL="0" algn="l" defTabSz="914400" rtl="0" eaLnBrk="1" latinLnBrk="0" hangingPunct="1"/>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703693927"/>
              </p:ext>
            </p:extLst>
          </p:nvPr>
        </p:nvGraphicFramePr>
        <p:xfrm>
          <a:off x="-795813" y="4774125"/>
          <a:ext cx="5902325" cy="13411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Patha Srilatha</a:t>
                      </a:r>
                    </a:p>
                    <a:p>
                      <a:pPr marL="0" indent="0" algn="l">
                        <a:lnSpc>
                          <a:spcPct val="100000"/>
                        </a:lnSpc>
                        <a:spcBef>
                          <a:spcPts val="200"/>
                        </a:spcBef>
                        <a:buSzPts val="810"/>
                        <a:buNone/>
                      </a:pP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Associate Professor</a:t>
                      </a:r>
                      <a:br>
                        <a:rPr lang="en-US" sz="1400" b="0" dirty="0">
                          <a:solidFill>
                            <a:schemeClr val="dk1"/>
                          </a:solidFill>
                          <a:latin typeface="Times New Roman" panose="02020603050405020304" pitchFamily="18" charset="0"/>
                          <a:ea typeface="Cambria"/>
                          <a:cs typeface="Times New Roman" panose="02020603050405020304" pitchFamily="18" charset="0"/>
                          <a:sym typeface="Cambria"/>
                        </a:rPr>
                      </a:b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Department of CSE,</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E8A51D8D-77C0-43B9-9B5F-E46EDA00679A}" type="datetime1">
              <a:rPr lang="en-US" b="1" smtClean="0"/>
              <a:t>8/29/2026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CNAD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60509" y="967742"/>
            <a:ext cx="10715625" cy="1261884"/>
          </a:xfrm>
          <a:prstGeom prst="rect">
            <a:avLst/>
          </a:prstGeom>
          <a:noFill/>
        </p:spPr>
        <p:txBody>
          <a:bodyPr wrap="square">
            <a:spAutoFit/>
          </a:bodyPr>
          <a:lstStyle/>
          <a:p>
            <a:pPr algn="ctr">
              <a:defRPr/>
            </a:pPr>
            <a:r>
              <a:rPr lang="en-IN" sz="2000" dirty="0">
                <a:solidFill>
                  <a:schemeClr val="bg1"/>
                </a:solidFill>
                <a:latin typeface="Times New Roman" panose="02020603050405020304" pitchFamily="18" charset="0"/>
                <a:cs typeface="Times New Roman" panose="02020603050405020304" pitchFamily="18" charset="0"/>
              </a:rPr>
              <a:t>CloudChange: A Cloud-Native Framework for Dependency-Aware Change Impact Analysis </a:t>
            </a:r>
            <a:br>
              <a:rPr lang="en-IN" sz="2000" dirty="0">
                <a:solidFill>
                  <a:schemeClr val="bg1"/>
                </a:solidFill>
                <a:latin typeface="Times New Roman" panose="02020603050405020304" pitchFamily="18" charset="0"/>
                <a:cs typeface="Times New Roman" panose="02020603050405020304" pitchFamily="18" charset="0"/>
              </a:rPr>
            </a:br>
            <a:r>
              <a:rPr lang="en-IN" sz="2000" dirty="0">
                <a:solidFill>
                  <a:schemeClr val="bg1"/>
                </a:solidFill>
                <a:latin typeface="Times New Roman" panose="02020603050405020304" pitchFamily="18" charset="0"/>
                <a:cs typeface="Times New Roman" panose="02020603050405020304" pitchFamily="18" charset="0"/>
              </a:rPr>
              <a:t>and Safe Kubernetes Deployment</a:t>
            </a:r>
          </a:p>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38175" y="2199745"/>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CNAD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4C1F5F2-ECD8-4C6D-ADBC-EC676B29AED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8/29/2026</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CNAD Project Review-1</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D122E8B8-54AE-F861-D576-B62C19A557BC}"/>
              </a:ext>
            </a:extLst>
          </p:cNvPr>
          <p:cNvSpPr>
            <a:spLocks noGrp="1"/>
          </p:cNvSpPr>
          <p:nvPr>
            <p:ph type="dt" sz="half" idx="10"/>
          </p:nvPr>
        </p:nvSpPr>
        <p:spPr/>
        <p:txBody>
          <a:bodyPr/>
          <a:lstStyle/>
          <a:p>
            <a:fld id="{EEF0E259-4615-46D4-A3BD-7CF5E55937D6}" type="datetime1">
              <a:rPr lang="en-US" smtClean="0"/>
              <a:t>8/29/2026</a:t>
            </a:fld>
            <a:endParaRPr lang="en-US"/>
          </a:p>
        </p:txBody>
      </p:sp>
      <p:sp>
        <p:nvSpPr>
          <p:cNvPr id="4" name="Footer Placeholder 3">
            <a:extLst>
              <a:ext uri="{FF2B5EF4-FFF2-40B4-BE49-F238E27FC236}">
                <a16:creationId xmlns:a16="http://schemas.microsoft.com/office/drawing/2014/main" id="{903DF040-570B-E40C-28DD-48ACF4776D20}"/>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247450DC-5C76-3221-3705-A7713237DE4A}"/>
              </a:ext>
            </a:extLst>
          </p:cNvPr>
          <p:cNvSpPr>
            <a:spLocks noGrp="1"/>
          </p:cNvSpPr>
          <p:nvPr>
            <p:ph type="sldNum" sz="quarter" idx="12"/>
          </p:nvPr>
        </p:nvSpPr>
        <p:spPr/>
        <p:txBody>
          <a:bodyPr/>
          <a:lstStyle/>
          <a:p>
            <a:fld id="{E639234F-78F1-4984-9C4D-D4C7AB587871}" type="slidenum">
              <a:rPr lang="en-US" smtClean="0"/>
              <a:t>3</a:t>
            </a:fld>
            <a:endParaRPr lang="en-US"/>
          </a:p>
        </p:txBody>
      </p:sp>
      <p:sp>
        <p:nvSpPr>
          <p:cNvPr id="8" name="Rectangle: Rounded Corners 7">
            <a:extLst>
              <a:ext uri="{FF2B5EF4-FFF2-40B4-BE49-F238E27FC236}">
                <a16:creationId xmlns:a16="http://schemas.microsoft.com/office/drawing/2014/main" id="{3CB58DBC-97DD-CAE2-6032-D8BF2561F46C}"/>
              </a:ext>
            </a:extLst>
          </p:cNvPr>
          <p:cNvSpPr/>
          <p:nvPr/>
        </p:nvSpPr>
        <p:spPr>
          <a:xfrm>
            <a:off x="3834920" y="136525"/>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0C81C4C6-2073-FBBF-8275-F618971BE0CB}"/>
              </a:ext>
            </a:extLst>
          </p:cNvPr>
          <p:cNvSpPr txBox="1"/>
          <p:nvPr/>
        </p:nvSpPr>
        <p:spPr>
          <a:xfrm>
            <a:off x="722376" y="812165"/>
            <a:ext cx="10762488" cy="563231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Cloud-based applications consist of multiple interconnected services, so even a small change in application code, Kubernetes configuration, Helm charts, or APIs can unexpectedly affect other services. Traditional deployment methods may not identify these dependencies and the potential risk or blast radius before deployment, which can lead to application failures and downtime. Therefore, there is a need for a system that can analyze changes before deployment, identify affected services, assess the risk, recommend a suitable Kubernetes deployment strategy, and safely rollback the deployment if the new version becomes unhealthy.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Hidden interdependencies</a:t>
            </a:r>
            <a:r>
              <a:rPr lang="en-IN" dirty="0">
                <a:latin typeface="Times New Roman" panose="02020603050405020304" pitchFamily="18" charset="0"/>
                <a:cs typeface="Times New Roman" panose="02020603050405020304" pitchFamily="18" charset="0"/>
              </a:rPr>
              <a:t> — Developers rarely know which services (Ingress, other microservices, downstream APIs) will be affected by a given change before it's pushed.</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CI/CD validates code, not risk</a:t>
            </a:r>
            <a:r>
              <a:rPr lang="en-IN" dirty="0">
                <a:latin typeface="Times New Roman" panose="02020603050405020304" pitchFamily="18" charset="0"/>
                <a:cs typeface="Times New Roman" panose="02020603050405020304" pitchFamily="18" charset="0"/>
              </a:rPr>
              <a:t> — Existing pipelines confirm that a change builds and passes tests, but say nothing about whether the change is safe to deploy.</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One-size-fits-all deployment</a:t>
            </a:r>
            <a:r>
              <a:rPr lang="en-IN" dirty="0">
                <a:latin typeface="Times New Roman" panose="02020603050405020304" pitchFamily="18" charset="0"/>
                <a:cs typeface="Times New Roman" panose="02020603050405020304" pitchFamily="18" charset="0"/>
              </a:rPr>
              <a:t> — Changes are rolled out the same way regardless of whether they are trivial or high-risk, since there's no mechanism to differentiate them.</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Failures are caught too late</a:t>
            </a:r>
            <a:r>
              <a:rPr lang="en-IN" dirty="0">
                <a:latin typeface="Times New Roman" panose="02020603050405020304" pitchFamily="18" charset="0"/>
                <a:cs typeface="Times New Roman" panose="02020603050405020304" pitchFamily="18" charset="0"/>
              </a:rPr>
              <a:t> — Issues such as crash loops, memory exhaustion, or latency spikes are typically discovered only after real user traffic is already affected, and rollback happens manually and reactively rather than proactively.</a:t>
            </a:r>
          </a:p>
          <a:p>
            <a:pPr algn="just"/>
            <a:endParaRPr lang="en-IN"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8/29/2026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4</a:t>
            </a:fld>
            <a:endParaRPr lang="en-US"/>
          </a:p>
        </p:txBody>
      </p:sp>
      <p:sp>
        <p:nvSpPr>
          <p:cNvPr id="9" name="Rectangle: Rounded Corners 8">
            <a:extLst>
              <a:ext uri="{FF2B5EF4-FFF2-40B4-BE49-F238E27FC236}">
                <a16:creationId xmlns:a16="http://schemas.microsoft.com/office/drawing/2014/main" id="{BADE4BBA-6735-AAC4-BA57-E76FE3B3CF7A}"/>
              </a:ext>
            </a:extLst>
          </p:cNvPr>
          <p:cNvSpPr/>
          <p:nvPr/>
        </p:nvSpPr>
        <p:spPr>
          <a:xfrm>
            <a:off x="3845080" y="122680"/>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BE66DCD8-FCB1-ED0E-53C8-7A353E6ACD26}"/>
              </a:ext>
            </a:extLst>
          </p:cNvPr>
          <p:cNvSpPr txBox="1"/>
          <p:nvPr/>
        </p:nvSpPr>
        <p:spPr>
          <a:xfrm>
            <a:off x="1151139" y="1177290"/>
            <a:ext cx="10274148" cy="4524315"/>
          </a:xfrm>
          <a:prstGeom prst="rect">
            <a:avLst/>
          </a:prstGeom>
          <a:noFill/>
        </p:spPr>
        <p:txBody>
          <a:bodyPr wrap="square" rtlCol="0">
            <a:spAutoFit/>
          </a:bodyPr>
          <a:lstStyle/>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Detect configuration/deployment changes by comparing old vs. new Helm values.</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dependencies among pods, services, APIs and infrastructure components.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Build a lightweight dependency map (Ingress → Service → Deployment → Pods) to identify affected components.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Compute a rule-based risk score across configuration, resource, availability, and security dimensions.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Recommend a deployment strategy (Rolling / Canary / Blue-Green) based on the computed risk.</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Execute controlled Kubernetes deployment with real-time health monitoring via Prometheus.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Automatically stop promotion and roll back on failure.</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Provide a dashboard visualizing change summary, risk score, blast radius, and deployment status.</a:t>
            </a:r>
          </a:p>
          <a:p>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32952984"/>
              </p:ext>
            </p:extLst>
          </p:nvPr>
        </p:nvGraphicFramePr>
        <p:xfrm>
          <a:off x="274647" y="818429"/>
          <a:ext cx="11642705" cy="5221141"/>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436591">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735412">
                <a:tc>
                  <a:txBody>
                    <a:bodyPr/>
                    <a:lstStyle/>
                    <a:p>
                      <a:pPr marL="0" algn="l" defTabSz="914400" rtl="0" eaLnBrk="1" latinLnBrk="0" hangingPunct="1"/>
                      <a:r>
                        <a:rPr lang="en-IN" sz="1400" b="1" dirty="0" err="1">
                          <a:solidFill>
                            <a:srgbClr val="FF0000"/>
                          </a:solidFill>
                          <a:latin typeface="Times New Roman" panose="02020603050405020304" pitchFamily="18" charset="0"/>
                          <a:cs typeface="Times New Roman" panose="02020603050405020304" pitchFamily="18" charset="0"/>
                        </a:rPr>
                        <a:t>Lelovic</a:t>
                      </a:r>
                      <a:r>
                        <a:rPr lang="en-IN" sz="1400" b="1" dirty="0">
                          <a:solidFill>
                            <a:srgbClr val="FF0000"/>
                          </a:solidFill>
                          <a:latin typeface="Times New Roman" panose="02020603050405020304" pitchFamily="18" charset="0"/>
                          <a:cs typeface="Times New Roman" panose="02020603050405020304" pitchFamily="18" charset="0"/>
                        </a:rPr>
                        <a:t> et al. (2025)</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b="1" dirty="0">
                          <a:solidFill>
                            <a:srgbClr val="FF0000"/>
                          </a:solidFill>
                          <a:latin typeface="Times New Roman" panose="02020603050405020304" pitchFamily="18" charset="0"/>
                          <a:cs typeface="Times New Roman" panose="02020603050405020304" pitchFamily="18" charset="0"/>
                        </a:rPr>
                        <a:t>Change Impact Analysis in Microservice Systems: A Systematic Literature Review</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kern="1200" dirty="0">
                          <a:solidFill>
                            <a:srgbClr val="FF0000"/>
                          </a:solidFill>
                          <a:effectLst/>
                          <a:latin typeface="Times New Roman" panose="02020603050405020304" pitchFamily="18" charset="0"/>
                          <a:ea typeface="+mn-ea"/>
                          <a:cs typeface="Times New Roman" panose="02020603050405020304" pitchFamily="18" charset="0"/>
                        </a:rPr>
                        <a:t>Systematic review of research on change-impact detection, propagation, metrics and tools in microservices</a:t>
                      </a:r>
                      <a:endParaRPr lang="en-US" sz="1400" b="1"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kern="1200" dirty="0">
                          <a:solidFill>
                            <a:srgbClr val="FF0000"/>
                          </a:solidFill>
                          <a:effectLst/>
                          <a:latin typeface="Times New Roman" panose="02020603050405020304" pitchFamily="18" charset="0"/>
                          <a:ea typeface="+mn-ea"/>
                          <a:cs typeface="Times New Roman" panose="02020603050405020304" pitchFamily="18" charset="0"/>
                        </a:rPr>
                        <a:t>Shows that a change in one microservice can propagate to other services and create ripple effects.</a:t>
                      </a:r>
                      <a:endParaRPr lang="en-US" sz="1400" b="1"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Existing approaches often analyze only specific impact types and need better detection, validation and multi-effect analysis.</a:t>
                      </a:r>
                    </a:p>
                  </a:txBody>
                  <a:tcPr/>
                </a:tc>
                <a:extLst>
                  <a:ext uri="{0D108BD9-81ED-4DB2-BD59-A6C34878D82A}">
                    <a16:rowId xmlns:a16="http://schemas.microsoft.com/office/drawing/2014/main" val="3714155954"/>
                  </a:ext>
                </a:extLst>
              </a:tr>
              <a:tr h="1524569">
                <a:tc>
                  <a:txBody>
                    <a:bodyPr/>
                    <a:lstStyle/>
                    <a:p>
                      <a:pPr marL="0" algn="l" defTabSz="914400" rtl="0" eaLnBrk="1" latinLnBrk="0" hangingPunct="1"/>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Cerny, </a:t>
                      </a:r>
                      <a:r>
                        <a:rPr lang="en-IN" sz="1400" b="1" i="0" u="none" kern="1200" dirty="0" err="1">
                          <a:solidFill>
                            <a:srgbClr val="FF0000"/>
                          </a:solidFill>
                          <a:effectLst/>
                          <a:latin typeface="Times New Roman" panose="02020603050405020304" pitchFamily="18" charset="0"/>
                          <a:ea typeface="+mn-ea"/>
                          <a:cs typeface="Times New Roman" panose="02020603050405020304" pitchFamily="18" charset="0"/>
                        </a:rPr>
                        <a:t>Goulis</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 &amp; Abdelfattah, 2025</a:t>
                      </a:r>
                    </a:p>
                  </a:txBody>
                  <a:tcPr/>
                </a:tc>
                <a:tc>
                  <a:txBody>
                    <a:bodyPr/>
                    <a:lstStyle/>
                    <a:p>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rPr>
                        <a:t>Towards Change Impact Analysis in Microservices-based System Evolution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Proposes infrastructure based on incremental software architecture reconstruction to support change-impact analysis</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the need for system-wide analysis of how changes propagate across microservices.</a:t>
                      </a:r>
                    </a:p>
                  </a:txBody>
                  <a:tcPr/>
                </a:tc>
                <a:tc>
                  <a:txBody>
                    <a:bodyPr/>
                    <a:lstStyle/>
                    <a:p>
                      <a:pPr marL="285750" indent="-285750" algn="l" defTabSz="914400" rtl="0" eaLnBrk="1" latinLnBrk="0" hangingPunct="1">
                        <a:buFont typeface="Arial" panose="020B0604020202020204" pitchFamily="34" charset="0"/>
                        <a:buChar char="•"/>
                      </a:pPr>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The work is mainly a foundation for impact analysis; mitigation through risk-based deployment and automated rollback is not its main focus.</a:t>
                      </a:r>
                    </a:p>
                  </a:txBody>
                  <a:tcPr/>
                </a:tc>
                <a:extLst>
                  <a:ext uri="{0D108BD9-81ED-4DB2-BD59-A6C34878D82A}">
                    <a16:rowId xmlns:a16="http://schemas.microsoft.com/office/drawing/2014/main" val="2655426370"/>
                  </a:ext>
                </a:extLst>
              </a:tr>
              <a:tr h="1524569">
                <a:tc>
                  <a:txBody>
                    <a:bodyPr/>
                    <a:lstStyle/>
                    <a:p>
                      <a:pPr marL="0" algn="l" defTabSz="914400" rtl="0" eaLnBrk="1" latinLnBrk="0" hangingPunct="1"/>
                      <a:r>
                        <a:rPr lang="de-DE" sz="1400" b="1" i="0" u="none" kern="1200" dirty="0">
                          <a:solidFill>
                            <a:srgbClr val="FF0000"/>
                          </a:solidFill>
                          <a:effectLst/>
                          <a:latin typeface="Times New Roman" panose="02020603050405020304" pitchFamily="18" charset="0"/>
                          <a:ea typeface="+mn-ea"/>
                          <a:cs typeface="Times New Roman" panose="02020603050405020304" pitchFamily="18" charset="0"/>
                        </a:rPr>
                        <a:t>Chen, Wu, Yang &amp; Zhang, 2023</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rPr>
                        <a:t>A Microservice Regression Testing Selection Approach Based on Belief Propagation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u="none" kern="1200" dirty="0">
                          <a:solidFill>
                            <a:srgbClr val="FF0000"/>
                          </a:solidFill>
                          <a:effectLst/>
                          <a:latin typeface="Times New Roman" panose="02020603050405020304" pitchFamily="18" charset="0"/>
                          <a:cs typeface="Times New Roman" panose="02020603050405020304" pitchFamily="18" charset="0"/>
                        </a:rPr>
                        <a:t>Mines service dependencies from API-gateway logs and uses propagation calculations to identify change impacts</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that service dependencies can be extracted and used to quantify change impact and select affected tests</a:t>
                      </a:r>
                    </a:p>
                  </a:txBody>
                  <a:tcPr/>
                </a:tc>
                <a:tc>
                  <a:txBody>
                    <a:bodyPr/>
                    <a:lstStyle/>
                    <a:p>
                      <a:pPr marL="285750" indent="-285750" algn="l" defTabSz="914400" rtl="0" eaLnBrk="1" latinLnBrk="0" hangingPunct="1">
                        <a:buFont typeface="Arial" panose="020B0604020202020204" pitchFamily="34" charset="0"/>
                        <a:buChar char="•"/>
                      </a:pPr>
                      <a:r>
                        <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Focuses mainly on regression-test selection rather than deployment-risk scoring or safe Kubernetes rollout.</a:t>
                      </a:r>
                    </a:p>
                  </a:txBody>
                  <a:tcPr/>
                </a:tc>
                <a:extLst>
                  <a:ext uri="{0D108BD9-81ED-4DB2-BD59-A6C34878D82A}">
                    <a16:rowId xmlns:a16="http://schemas.microsoft.com/office/drawing/2014/main" val="2841575018"/>
                  </a:ext>
                </a:extLst>
              </a:tr>
            </a:tbl>
          </a:graphicData>
        </a:graphic>
      </p:graphicFrame>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6BBE2E2B-EEBE-417C-831B-9A36F38228DC}" type="datetime1">
              <a:rPr lang="en-US" smtClean="0"/>
              <a:t>8/29/2026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CNAD Project Review-1</a:t>
            </a:r>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
        <p:nvSpPr>
          <p:cNvPr id="5" name="Rectangle: Rounded Corners 4">
            <a:extLst>
              <a:ext uri="{FF2B5EF4-FFF2-40B4-BE49-F238E27FC236}">
                <a16:creationId xmlns:a16="http://schemas.microsoft.com/office/drawing/2014/main" id="{2704399D-42EB-45BD-D43F-A5AE14D447C0}"/>
              </a:ext>
            </a:extLst>
          </p:cNvPr>
          <p:cNvSpPr/>
          <p:nvPr/>
        </p:nvSpPr>
        <p:spPr>
          <a:xfrm>
            <a:off x="3773960" y="28819"/>
            <a:ext cx="4105120" cy="5937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Cambria"/>
                <a:cs typeface="Times New Roman" panose="02020603050405020304" pitchFamily="18" charset="0"/>
              </a:rPr>
              <a:t>Literature Survey</a:t>
            </a:r>
            <a:endParaRPr lang="en-IN"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68EF7CC6-A232-6F78-D877-F4139E33B62C}"/>
              </a:ext>
            </a:extLst>
          </p:cNvPr>
          <p:cNvSpPr>
            <a:spLocks noGrp="1"/>
          </p:cNvSpPr>
          <p:nvPr>
            <p:ph type="dt" sz="half" idx="10"/>
          </p:nvPr>
        </p:nvSpPr>
        <p:spPr/>
        <p:txBody>
          <a:bodyPr/>
          <a:lstStyle/>
          <a:p>
            <a:fld id="{C7382076-AD1E-4D44-9D37-ACCF737AE8A4}" type="datetime1">
              <a:rPr lang="en-US" smtClean="0"/>
              <a:t>8/29/2026</a:t>
            </a:fld>
            <a:endParaRPr lang="en-US"/>
          </a:p>
        </p:txBody>
      </p:sp>
      <p:sp>
        <p:nvSpPr>
          <p:cNvPr id="4" name="Footer Placeholder 3">
            <a:extLst>
              <a:ext uri="{FF2B5EF4-FFF2-40B4-BE49-F238E27FC236}">
                <a16:creationId xmlns:a16="http://schemas.microsoft.com/office/drawing/2014/main" id="{EB1B73B0-000A-32FB-5643-CD5676D4AF06}"/>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7FA1E0BD-2CF1-90B0-91FF-80A63764D288}"/>
              </a:ext>
            </a:extLst>
          </p:cNvPr>
          <p:cNvSpPr>
            <a:spLocks noGrp="1"/>
          </p:cNvSpPr>
          <p:nvPr>
            <p:ph type="sldNum" sz="quarter" idx="12"/>
          </p:nvPr>
        </p:nvSpPr>
        <p:spPr/>
        <p:txBody>
          <a:bodyPr/>
          <a:lstStyle/>
          <a:p>
            <a:fld id="{E639234F-78F1-4984-9C4D-D4C7AB587871}" type="slidenum">
              <a:rPr lang="en-US" smtClean="0"/>
              <a:t>6</a:t>
            </a:fld>
            <a:endParaRPr lang="en-US"/>
          </a:p>
        </p:txBody>
      </p:sp>
      <p:sp>
        <p:nvSpPr>
          <p:cNvPr id="10" name="Rectangle: Rounded Corners 9">
            <a:extLst>
              <a:ext uri="{FF2B5EF4-FFF2-40B4-BE49-F238E27FC236}">
                <a16:creationId xmlns:a16="http://schemas.microsoft.com/office/drawing/2014/main" id="{CD00B50F-4223-2213-E4CD-57D228BCA0B6}"/>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Gap Identification</a:t>
            </a:r>
          </a:p>
        </p:txBody>
      </p:sp>
      <p:graphicFrame>
        <p:nvGraphicFramePr>
          <p:cNvPr id="15" name="Table 14">
            <a:extLst>
              <a:ext uri="{FF2B5EF4-FFF2-40B4-BE49-F238E27FC236}">
                <a16:creationId xmlns:a16="http://schemas.microsoft.com/office/drawing/2014/main" id="{32B164EC-AF10-D9F0-1030-AEEA3A69594A}"/>
              </a:ext>
            </a:extLst>
          </p:cNvPr>
          <p:cNvGraphicFramePr>
            <a:graphicFrameLocks noGrp="1"/>
          </p:cNvGraphicFramePr>
          <p:nvPr>
            <p:extLst>
              <p:ext uri="{D42A27DB-BD31-4B8C-83A1-F6EECF244321}">
                <p14:modId xmlns:p14="http://schemas.microsoft.com/office/powerpoint/2010/main" val="3545290240"/>
              </p:ext>
            </p:extLst>
          </p:nvPr>
        </p:nvGraphicFramePr>
        <p:xfrm>
          <a:off x="565607" y="1093508"/>
          <a:ext cx="11076496" cy="5059200"/>
        </p:xfrm>
        <a:graphic>
          <a:graphicData uri="http://schemas.openxmlformats.org/drawingml/2006/table">
            <a:tbl>
              <a:tblPr firstRow="1" bandRow="1">
                <a:tableStyleId>{5C22544A-7EE6-4342-B048-85BDC9FD1C3A}</a:tableStyleId>
              </a:tblPr>
              <a:tblGrid>
                <a:gridCol w="5538248">
                  <a:extLst>
                    <a:ext uri="{9D8B030D-6E8A-4147-A177-3AD203B41FA5}">
                      <a16:colId xmlns:a16="http://schemas.microsoft.com/office/drawing/2014/main" val="1104703364"/>
                    </a:ext>
                  </a:extLst>
                </a:gridCol>
                <a:gridCol w="5538248">
                  <a:extLst>
                    <a:ext uri="{9D8B030D-6E8A-4147-A177-3AD203B41FA5}">
                      <a16:colId xmlns:a16="http://schemas.microsoft.com/office/drawing/2014/main" val="2518094111"/>
                    </a:ext>
                  </a:extLst>
                </a:gridCol>
              </a:tblGrid>
              <a:tr h="711448">
                <a:tc>
                  <a:txBody>
                    <a:bodyPr/>
                    <a:lstStyle/>
                    <a:p>
                      <a:r>
                        <a:rPr lang="en-IN" dirty="0"/>
                        <a:t>Existing Approach </a:t>
                      </a:r>
                    </a:p>
                  </a:txBody>
                  <a:tcPr/>
                </a:tc>
                <a:tc>
                  <a:txBody>
                    <a:bodyPr/>
                    <a:lstStyle/>
                    <a:p>
                      <a:r>
                        <a:rPr lang="en-IN" dirty="0"/>
                        <a:t>Identification Gap in CloudChange</a:t>
                      </a:r>
                    </a:p>
                  </a:txBody>
                  <a:tcPr/>
                </a:tc>
                <a:extLst>
                  <a:ext uri="{0D108BD9-81ED-4DB2-BD59-A6C34878D82A}">
                    <a16:rowId xmlns:a16="http://schemas.microsoft.com/office/drawing/2014/main" val="3287936938"/>
                  </a:ext>
                </a:extLst>
              </a:tr>
              <a:tr h="802276">
                <a:tc>
                  <a:txBody>
                    <a:bodyPr/>
                    <a:lstStyle/>
                    <a:p>
                      <a:r>
                        <a:rPr lang="en-IN" dirty="0"/>
                        <a:t>1. Dependency Analysis</a:t>
                      </a:r>
                    </a:p>
                  </a:txBody>
                  <a:tcPr/>
                </a:tc>
                <a:tc>
                  <a:txBody>
                    <a:bodyPr/>
                    <a:lstStyle/>
                    <a:p>
                      <a:r>
                        <a:rPr lang="en-US" dirty="0"/>
                        <a:t> Identifies service relationships, but does not always estimate the risk or blast radius of a change.</a:t>
                      </a:r>
                      <a:endParaRPr lang="en-IN" dirty="0"/>
                    </a:p>
                  </a:txBody>
                  <a:tcPr/>
                </a:tc>
                <a:extLst>
                  <a:ext uri="{0D108BD9-81ED-4DB2-BD59-A6C34878D82A}">
                    <a16:rowId xmlns:a16="http://schemas.microsoft.com/office/drawing/2014/main" val="2008188555"/>
                  </a:ext>
                </a:extLst>
              </a:tr>
              <a:tr h="802276">
                <a:tc>
                  <a:txBody>
                    <a:bodyPr/>
                    <a:lstStyle/>
                    <a:p>
                      <a:r>
                        <a:rPr lang="en-IN" dirty="0"/>
                        <a:t>2. Change Impact Analysis</a:t>
                      </a:r>
                    </a:p>
                  </a:txBody>
                  <a:tcPr/>
                </a:tc>
                <a:tc>
                  <a:txBody>
                    <a:bodyPr/>
                    <a:lstStyle/>
                    <a:p>
                      <a:r>
                        <a:rPr lang="en-US" dirty="0"/>
                        <a:t> Finds potentially affected components, but is generally not connected directly to deployment strategy selection.</a:t>
                      </a:r>
                      <a:endParaRPr lang="en-IN" dirty="0"/>
                    </a:p>
                  </a:txBody>
                  <a:tcPr/>
                </a:tc>
                <a:extLst>
                  <a:ext uri="{0D108BD9-81ED-4DB2-BD59-A6C34878D82A}">
                    <a16:rowId xmlns:a16="http://schemas.microsoft.com/office/drawing/2014/main" val="1285325701"/>
                  </a:ext>
                </a:extLst>
              </a:tr>
              <a:tr h="802276">
                <a:tc>
                  <a:txBody>
                    <a:bodyPr/>
                    <a:lstStyle/>
                    <a:p>
                      <a:r>
                        <a:rPr lang="en-IN" dirty="0"/>
                        <a:t>3. Conventional CI/CD </a:t>
                      </a:r>
                    </a:p>
                  </a:txBody>
                  <a:tcPr/>
                </a:tc>
                <a:tc>
                  <a:txBody>
                    <a:bodyPr/>
                    <a:lstStyle/>
                    <a:p>
                      <a:r>
                        <a:rPr lang="en-US" dirty="0"/>
                        <a:t>Performs build, test, scan and deployment, but lacks dependency-aware pre-deployment risk analysis.</a:t>
                      </a:r>
                      <a:endParaRPr lang="en-IN" dirty="0"/>
                    </a:p>
                  </a:txBody>
                  <a:tcPr/>
                </a:tc>
                <a:extLst>
                  <a:ext uri="{0D108BD9-81ED-4DB2-BD59-A6C34878D82A}">
                    <a16:rowId xmlns:a16="http://schemas.microsoft.com/office/drawing/2014/main" val="2304546960"/>
                  </a:ext>
                </a:extLst>
              </a:tr>
              <a:tr h="8022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4. Manual Deployment &amp; Rollback</a:t>
                      </a:r>
                    </a:p>
                    <a:p>
                      <a:endParaRPr lang="en-IN" dirty="0"/>
                    </a:p>
                  </a:txBody>
                  <a:tcPr/>
                </a:tc>
                <a:tc>
                  <a:txBody>
                    <a:bodyPr/>
                    <a:lstStyle/>
                    <a:p>
                      <a:r>
                        <a:rPr lang="en-US" dirty="0"/>
                        <a:t>Deployment strategy and rollback often depend on manual decisions, increasing the chance of failure and downtime.</a:t>
                      </a:r>
                      <a:endParaRPr lang="en-IN" dirty="0"/>
                    </a:p>
                  </a:txBody>
                  <a:tcPr/>
                </a:tc>
                <a:extLst>
                  <a:ext uri="{0D108BD9-81ED-4DB2-BD59-A6C34878D82A}">
                    <a16:rowId xmlns:a16="http://schemas.microsoft.com/office/drawing/2014/main" val="1039867450"/>
                  </a:ext>
                </a:extLst>
              </a:tr>
              <a:tr h="802276">
                <a:tc>
                  <a:txBody>
                    <a:bodyPr/>
                    <a:lstStyle/>
                    <a:p>
                      <a:r>
                        <a:rPr lang="en-IN" dirty="0"/>
                        <a:t>5. Monitoring Systems </a:t>
                      </a:r>
                    </a:p>
                  </a:txBody>
                  <a:tcPr/>
                </a:tc>
                <a:tc>
                  <a:txBody>
                    <a:bodyPr/>
                    <a:lstStyle/>
                    <a:p>
                      <a:r>
                        <a:rPr lang="en-US" dirty="0"/>
                        <a:t>Detect application problems after deployment, but do not provide a complete predict-before-deployment and safe-release mechanism.</a:t>
                      </a:r>
                      <a:endParaRPr lang="en-IN" dirty="0"/>
                    </a:p>
                  </a:txBody>
                  <a:tcPr/>
                </a:tc>
                <a:extLst>
                  <a:ext uri="{0D108BD9-81ED-4DB2-BD59-A6C34878D82A}">
                    <a16:rowId xmlns:a16="http://schemas.microsoft.com/office/drawing/2014/main" val="4293036719"/>
                  </a:ext>
                </a:extLst>
              </a:tr>
            </a:tbl>
          </a:graphicData>
        </a:graphic>
      </p:graphicFrame>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108788A6-87D6-D1AD-CD09-882273D2CDE8}"/>
              </a:ext>
            </a:extLst>
          </p:cNvPr>
          <p:cNvSpPr>
            <a:spLocks noGrp="1"/>
          </p:cNvSpPr>
          <p:nvPr>
            <p:ph type="dt" sz="half" idx="10"/>
          </p:nvPr>
        </p:nvSpPr>
        <p:spPr/>
        <p:txBody>
          <a:bodyPr/>
          <a:lstStyle/>
          <a:p>
            <a:fld id="{A428917A-4773-4F0C-BADF-AB7FA9859A31}" type="datetime1">
              <a:rPr lang="en-US" smtClean="0"/>
              <a:t>8/29/2026</a:t>
            </a:fld>
            <a:endParaRPr lang="en-US"/>
          </a:p>
        </p:txBody>
      </p:sp>
      <p:sp>
        <p:nvSpPr>
          <p:cNvPr id="4" name="Footer Placeholder 3">
            <a:extLst>
              <a:ext uri="{FF2B5EF4-FFF2-40B4-BE49-F238E27FC236}">
                <a16:creationId xmlns:a16="http://schemas.microsoft.com/office/drawing/2014/main" id="{6964A259-1A89-35BF-04C0-AB6DECF4E00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0295C214-DB26-4476-F790-7E558BB673EA}"/>
              </a:ext>
            </a:extLst>
          </p:cNvPr>
          <p:cNvSpPr>
            <a:spLocks noGrp="1"/>
          </p:cNvSpPr>
          <p:nvPr>
            <p:ph type="sldNum" sz="quarter" idx="12"/>
          </p:nvPr>
        </p:nvSpPr>
        <p:spPr/>
        <p:txBody>
          <a:bodyPr/>
          <a:lstStyle/>
          <a:p>
            <a:fld id="{E639234F-78F1-4984-9C4D-D4C7AB587871}" type="slidenum">
              <a:rPr lang="en-US" smtClean="0"/>
              <a:t>7</a:t>
            </a:fld>
            <a:endParaRPr lang="en-US"/>
          </a:p>
        </p:txBody>
      </p:sp>
      <p:sp>
        <p:nvSpPr>
          <p:cNvPr id="8" name="Rectangle: Rounded Corners 7">
            <a:extLst>
              <a:ext uri="{FF2B5EF4-FFF2-40B4-BE49-F238E27FC236}">
                <a16:creationId xmlns:a16="http://schemas.microsoft.com/office/drawing/2014/main" id="{26FE5EF9-EC7B-4BF5-92FE-E68EC6C8C5B2}"/>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Innovation, Creativity, and Novelty</a:t>
            </a:r>
          </a:p>
        </p:txBody>
      </p:sp>
      <p:sp>
        <p:nvSpPr>
          <p:cNvPr id="9" name="TextBox 8">
            <a:extLst>
              <a:ext uri="{FF2B5EF4-FFF2-40B4-BE49-F238E27FC236}">
                <a16:creationId xmlns:a16="http://schemas.microsoft.com/office/drawing/2014/main" id="{CF071188-181B-9FBA-33F1-B91F910ADEFC}"/>
              </a:ext>
            </a:extLst>
          </p:cNvPr>
          <p:cNvSpPr txBox="1"/>
          <p:nvPr/>
        </p:nvSpPr>
        <p:spPr>
          <a:xfrm>
            <a:off x="1283616" y="1116083"/>
            <a:ext cx="9624767" cy="4524315"/>
          </a:xfrm>
          <a:prstGeom prst="rect">
            <a:avLst/>
          </a:prstGeom>
          <a:noFill/>
        </p:spPr>
        <p:txBody>
          <a:bodyPr wrap="square" rtlCol="0">
            <a:spAutoFit/>
          </a:bodyPr>
          <a:lstStyle/>
          <a:p>
            <a:pPr lvl="0"/>
            <a:r>
              <a:rPr lang="en-IN" dirty="0">
                <a:latin typeface="Times New Roman" panose="02020603050405020304" pitchFamily="18" charset="0"/>
                <a:cs typeface="Times New Roman" panose="02020603050405020304" pitchFamily="18" charset="0"/>
              </a:rPr>
              <a:t>Follows a complete cycle: Change → Impact → Risk → Deployment Strategy → Deploy → Monitor → Rollback</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Change Impact</a:t>
            </a:r>
            <a:r>
              <a:rPr lang="en-IN" dirty="0">
                <a:latin typeface="Times New Roman" panose="02020603050405020304" pitchFamily="18" charset="0"/>
                <a:cs typeface="Times New Roman" panose="02020603050405020304" pitchFamily="18" charset="0"/>
              </a:rPr>
              <a:t> — automatically detects what changed between old and new Helm configuration</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Blast Radius</a:t>
            </a:r>
            <a:r>
              <a:rPr lang="en-IN" dirty="0">
                <a:latin typeface="Times New Roman" panose="02020603050405020304" pitchFamily="18" charset="0"/>
                <a:cs typeface="Times New Roman" panose="02020603050405020304" pitchFamily="18" charset="0"/>
              </a:rPr>
              <a:t> — maps dependencies (Ingress → Service → Deployment → Pods) to show what else could be affected</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Safe Deployment</a:t>
            </a:r>
            <a:r>
              <a:rPr lang="en-IN" dirty="0">
                <a:latin typeface="Times New Roman" panose="02020603050405020304" pitchFamily="18" charset="0"/>
                <a:cs typeface="Times New Roman" panose="02020603050405020304" pitchFamily="18" charset="0"/>
              </a:rPr>
              <a:t> — recommends strategy based on risk: Rolling (low), Canary (medium), Blue-Green/approval (high)</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lvl="0"/>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code, configuration files, container images, and Kubernetes manifests together using a dependency graph</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Gives actionable recommendations — proceed, test further, or block for manual approval — not just a report</a:t>
            </a:r>
          </a:p>
          <a:p>
            <a:pPr lvl="0"/>
            <a:r>
              <a:rPr lang="en-IN" dirty="0">
                <a:latin typeface="Times New Roman" panose="02020603050405020304" pitchFamily="18" charset="0"/>
                <a:cs typeface="Times New Roman" panose="02020603050405020304" pitchFamily="18" charset="0"/>
              </a:rPr>
              <a:t>Integrates with CI/CD and Kubernetes for automated validation, health checks, and rollback</a:t>
            </a:r>
          </a:p>
          <a:p>
            <a:pPr lvl="0"/>
            <a:r>
              <a:rPr lang="en-IN" dirty="0">
                <a:latin typeface="Times New Roman" panose="02020603050405020304" pitchFamily="18" charset="0"/>
                <a:cs typeface="Times New Roman" panose="02020603050405020304" pitchFamily="18" charset="0"/>
              </a:rPr>
              <a:t>Acts as a safety checkpoint for deployments, not just a monitoring dashboard</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19AFF3A1-5C1B-139E-D79A-72B88478015A}"/>
              </a:ext>
            </a:extLst>
          </p:cNvPr>
          <p:cNvSpPr>
            <a:spLocks noGrp="1"/>
          </p:cNvSpPr>
          <p:nvPr>
            <p:ph type="dt" sz="half" idx="10"/>
          </p:nvPr>
        </p:nvSpPr>
        <p:spPr/>
        <p:txBody>
          <a:bodyPr/>
          <a:lstStyle/>
          <a:p>
            <a:fld id="{51F6ED1E-D5CF-4737-9463-A65281469B97}" type="datetime1">
              <a:rPr lang="en-US" smtClean="0"/>
              <a:t>8/29/2026</a:t>
            </a:fld>
            <a:endParaRPr lang="en-US"/>
          </a:p>
        </p:txBody>
      </p:sp>
      <p:sp>
        <p:nvSpPr>
          <p:cNvPr id="6" name="Footer Placeholder 5">
            <a:extLst>
              <a:ext uri="{FF2B5EF4-FFF2-40B4-BE49-F238E27FC236}">
                <a16:creationId xmlns:a16="http://schemas.microsoft.com/office/drawing/2014/main" id="{1E7EC70D-1363-E80E-D957-B7196CB13ADE}"/>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8251C404-5E3A-5943-D47B-EDA9706D2992}"/>
              </a:ext>
            </a:extLst>
          </p:cNvPr>
          <p:cNvSpPr>
            <a:spLocks noGrp="1"/>
          </p:cNvSpPr>
          <p:nvPr>
            <p:ph type="sldNum" sz="quarter" idx="12"/>
          </p:nvPr>
        </p:nvSpPr>
        <p:spPr/>
        <p:txBody>
          <a:bodyPr/>
          <a:lstStyle/>
          <a:p>
            <a:fld id="{E639234F-78F1-4984-9C4D-D4C7AB587871}" type="slidenum">
              <a:rPr lang="en-US" smtClean="0"/>
              <a:t>8</a:t>
            </a:fld>
            <a:endParaRPr lang="en-US"/>
          </a:p>
        </p:txBody>
      </p:sp>
      <p:sp>
        <p:nvSpPr>
          <p:cNvPr id="9" name="Rectangle: Rounded Corners 8">
            <a:extLst>
              <a:ext uri="{FF2B5EF4-FFF2-40B4-BE49-F238E27FC236}">
                <a16:creationId xmlns:a16="http://schemas.microsoft.com/office/drawing/2014/main" id="{8DA611A3-C40B-C4D0-FC5B-A6E3CFDFC96B}"/>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Feasibility and Project Plan</a:t>
            </a:r>
          </a:p>
        </p:txBody>
      </p:sp>
      <p:pic>
        <p:nvPicPr>
          <p:cNvPr id="13" name="Picture 12">
            <a:extLst>
              <a:ext uri="{FF2B5EF4-FFF2-40B4-BE49-F238E27FC236}">
                <a16:creationId xmlns:a16="http://schemas.microsoft.com/office/drawing/2014/main" id="{73D21DCB-7A2D-14FE-869A-B42F21B868F1}"/>
              </a:ext>
            </a:extLst>
          </p:cNvPr>
          <p:cNvPicPr>
            <a:picLocks noChangeAspect="1"/>
          </p:cNvPicPr>
          <p:nvPr/>
        </p:nvPicPr>
        <p:blipFill>
          <a:blip r:embed="rId3"/>
          <a:stretch>
            <a:fillRect/>
          </a:stretch>
        </p:blipFill>
        <p:spPr>
          <a:xfrm>
            <a:off x="5499314" y="923808"/>
            <a:ext cx="6447589" cy="5353701"/>
          </a:xfrm>
          <a:prstGeom prst="rect">
            <a:avLst/>
          </a:prstGeom>
        </p:spPr>
      </p:pic>
      <p:sp>
        <p:nvSpPr>
          <p:cNvPr id="14" name="TextBox 13">
            <a:extLst>
              <a:ext uri="{FF2B5EF4-FFF2-40B4-BE49-F238E27FC236}">
                <a16:creationId xmlns:a16="http://schemas.microsoft.com/office/drawing/2014/main" id="{20382008-D2FF-2457-256A-25402EDECC5D}"/>
              </a:ext>
            </a:extLst>
          </p:cNvPr>
          <p:cNvSpPr txBox="1"/>
          <p:nvPr/>
        </p:nvSpPr>
        <p:spPr>
          <a:xfrm>
            <a:off x="245097" y="1120357"/>
            <a:ext cx="5514680" cy="5078313"/>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Technical</a:t>
            </a:r>
            <a:r>
              <a:rPr lang="en-US" dirty="0">
                <a:latin typeface="Times New Roman" panose="02020603050405020304" pitchFamily="18" charset="0"/>
                <a:cs typeface="Times New Roman" panose="02020603050405020304" pitchFamily="18" charset="0"/>
              </a:rPr>
              <a:t>: The project can be implemented using React,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Docker, Kubernetes, Helm, GitHub Actions, </a:t>
            </a:r>
            <a:r>
              <a:rPr lang="en-US" dirty="0" err="1">
                <a:latin typeface="Times New Roman" panose="02020603050405020304" pitchFamily="18" charset="0"/>
                <a:cs typeface="Times New Roman" panose="02020603050405020304" pitchFamily="18" charset="0"/>
              </a:rPr>
              <a:t>Trivy</a:t>
            </a:r>
            <a:r>
              <a:rPr lang="en-US" dirty="0">
                <a:latin typeface="Times New Roman" panose="02020603050405020304" pitchFamily="18" charset="0"/>
                <a:cs typeface="Times New Roman" panose="02020603050405020304" pitchFamily="18" charset="0"/>
              </a:rPr>
              <a:t>, Prometheus, Grafana, Argo CD, AWS/EKS and PostgreSQL.</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Operational: </a:t>
            </a:r>
            <a:r>
              <a:rPr lang="en-US" dirty="0" err="1">
                <a:latin typeface="Times New Roman" panose="02020603050405020304" pitchFamily="18" charset="0"/>
                <a:cs typeface="Times New Roman" panose="02020603050405020304" pitchFamily="18" charset="0"/>
              </a:rPr>
              <a:t>CloudChange</a:t>
            </a:r>
            <a:r>
              <a:rPr lang="en-US" dirty="0">
                <a:latin typeface="Times New Roman" panose="02020603050405020304" pitchFamily="18" charset="0"/>
                <a:cs typeface="Times New Roman" panose="02020603050405020304" pitchFamily="18" charset="0"/>
              </a:rPr>
              <a:t> provides a dashboard-based workflow for change analysis, risk assessment, deployment recommendation, monitoring and rollback, making it practical for developers.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Economic: </a:t>
            </a:r>
            <a:r>
              <a:rPr lang="en-US" dirty="0">
                <a:latin typeface="Times New Roman" panose="02020603050405020304" pitchFamily="18" charset="0"/>
                <a:cs typeface="Times New Roman" panose="02020603050405020304" pitchFamily="18" charset="0"/>
              </a:rPr>
              <a:t>The project can use open-source technologies and available cloud resources, making implementation suitable for an academic project.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Implementation: </a:t>
            </a:r>
            <a:r>
              <a:rPr lang="en-US" dirty="0">
                <a:latin typeface="Times New Roman" panose="02020603050405020304" pitchFamily="18" charset="0"/>
                <a:cs typeface="Times New Roman" panose="02020603050405020304" pitchFamily="18" charset="0"/>
              </a:rPr>
              <a:t>The system can be developed in phases, starting with change detection and dependency analysis, followed by risk scoring, Kubernetes deployment, monitoring and automated rollback.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1088</Words>
  <Application>Microsoft Office PowerPoint</Application>
  <PresentationFormat>Widescreen</PresentationFormat>
  <Paragraphs>118</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vijayareddy28@outlook.com</cp:lastModifiedBy>
  <cp:revision>46</cp:revision>
  <dcterms:created xsi:type="dcterms:W3CDTF">2026-08-08T06:33:56Z</dcterms:created>
  <dcterms:modified xsi:type="dcterms:W3CDTF">2026-08-29T05:33:55Z</dcterms:modified>
</cp:coreProperties>
</file>